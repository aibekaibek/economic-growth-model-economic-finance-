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ibek aibek" initials="aa" lastIdx="1" clrIdx="0">
    <p:extLst>
      <p:ext uri="{19B8F6BF-5375-455C-9EA6-DF929625EA0E}">
        <p15:presenceInfo xmlns:p15="http://schemas.microsoft.com/office/powerpoint/2012/main" userId="680b00c63570a5c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68" autoAdjust="0"/>
    <p:restoredTop sz="94660"/>
  </p:normalViewPr>
  <p:slideViewPr>
    <p:cSldViewPr snapToGrid="0">
      <p:cViewPr>
        <p:scale>
          <a:sx n="66" d="100"/>
          <a:sy n="66" d="100"/>
        </p:scale>
        <p:origin x="732" y="2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26T09:34:22.668" idx="1">
    <p:pos x="10" y="10"/>
    <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ru-RU"/>
              <a:t>Образец заголовка</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9EAC0E46-D980-4D26-9218-E310ED002C38}" type="datetimeFigureOut">
              <a:rPr lang="ru-RU" smtClean="0"/>
              <a:t>26.12.2025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22166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EAC0E46-D980-4D26-9218-E310ED002C38}" type="datetimeFigureOut">
              <a:rPr lang="ru-RU" smtClean="0"/>
              <a:t>26.12.2025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3175321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EAC0E46-D980-4D26-9218-E310ED002C38}" type="datetimeFigureOut">
              <a:rPr lang="ru-RU" smtClean="0"/>
              <a:t>26.12.2025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1143957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36911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EAC0E46-D980-4D26-9218-E310ED002C38}" type="datetimeFigureOut">
              <a:rPr lang="ru-RU" smtClean="0"/>
              <a:t>26.12.2025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3723614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EAC0E46-D980-4D26-9218-E310ED002C38}" type="datetimeFigureOut">
              <a:rPr lang="ru-RU" smtClean="0"/>
              <a:t>26.12.2025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442744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C0E46-D980-4D26-9218-E310ED002C38}" type="datetimeFigureOut">
              <a:rPr lang="ru-RU" smtClean="0"/>
              <a:t>26.12.2025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392854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ru-RU"/>
              <a:t>Образец заголовка</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4227863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3965830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86120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1518361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34630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ru-RU"/>
              <a:t>Образец заголовка</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9EAC0E46-D980-4D26-9218-E310ED002C38}" type="datetimeFigureOut">
              <a:rPr lang="ru-RU" smtClean="0"/>
              <a:t>26.12.2025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15478197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ru-RU"/>
              <a:t>Образец заголовка</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9EAC0E46-D980-4D26-9218-E310ED002C38}" type="datetimeFigureOut">
              <a:rPr lang="ru-RU" smtClean="0"/>
              <a:t>26.12.2025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985073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9EAC0E46-D980-4D26-9218-E310ED002C38}" type="datetimeFigureOut">
              <a:rPr lang="ru-RU" smtClean="0"/>
              <a:t>26.12.2025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3721667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EAC0E46-D980-4D26-9218-E310ED002C38}" type="datetimeFigureOut">
              <a:rPr lang="ru-RU" smtClean="0"/>
              <a:t>26.12.2025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19017663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EAC0E46-D980-4D26-9218-E310ED002C38}" type="datetimeFigureOut">
              <a:rPr lang="ru-RU" smtClean="0"/>
              <a:t>26.12.2025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9414DC3-BD57-4D6D-A9CC-D5558F3B15A2}" type="slidenum">
              <a:rPr lang="ru-RU" smtClean="0"/>
              <a:t>‹#›</a:t>
            </a:fld>
            <a:endParaRPr lang="ru-RU"/>
          </a:p>
        </p:txBody>
      </p:sp>
    </p:spTree>
    <p:extLst>
      <p:ext uri="{BB962C8B-B14F-4D97-AF65-F5344CB8AC3E}">
        <p14:creationId xmlns:p14="http://schemas.microsoft.com/office/powerpoint/2010/main" val="274759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EAC0E46-D980-4D26-9218-E310ED002C38}" type="datetimeFigureOut">
              <a:rPr lang="ru-RU" smtClean="0"/>
              <a:t>26.12.2025</a:t>
            </a:fld>
            <a:endParaRPr lang="ru-RU"/>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ru-RU"/>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9414DC3-BD57-4D6D-A9CC-D5558F3B15A2}" type="slidenum">
              <a:rPr lang="ru-RU" smtClean="0"/>
              <a:t>‹#›</a:t>
            </a:fld>
            <a:endParaRPr lang="ru-RU"/>
          </a:p>
        </p:txBody>
      </p:sp>
    </p:spTree>
    <p:extLst>
      <p:ext uri="{BB962C8B-B14F-4D97-AF65-F5344CB8AC3E}">
        <p14:creationId xmlns:p14="http://schemas.microsoft.com/office/powerpoint/2010/main" val="234461901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F45EAF-28B6-48A8-BB67-3BBFAABD9287}"/>
              </a:ext>
            </a:extLst>
          </p:cNvPr>
          <p:cNvSpPr>
            <a:spLocks noGrp="1"/>
          </p:cNvSpPr>
          <p:nvPr>
            <p:ph type="ctrTitle"/>
          </p:nvPr>
        </p:nvSpPr>
        <p:spPr/>
        <p:txBody>
          <a:bodyPr/>
          <a:lstStyle/>
          <a:p>
            <a:r>
              <a:rPr lang="en-US" dirty="0"/>
              <a:t>Economic Growth Model</a:t>
            </a:r>
            <a:endParaRPr lang="ru-RU" dirty="0"/>
          </a:p>
        </p:txBody>
      </p:sp>
      <p:sp>
        <p:nvSpPr>
          <p:cNvPr id="3" name="Подзаголовок 2">
            <a:extLst>
              <a:ext uri="{FF2B5EF4-FFF2-40B4-BE49-F238E27FC236}">
                <a16:creationId xmlns:a16="http://schemas.microsoft.com/office/drawing/2014/main" id="{DA79EA06-6DA2-4AB8-880A-927E42FD44DF}"/>
              </a:ext>
            </a:extLst>
          </p:cNvPr>
          <p:cNvSpPr>
            <a:spLocks noGrp="1"/>
          </p:cNvSpPr>
          <p:nvPr>
            <p:ph type="subTitle" idx="1"/>
          </p:nvPr>
        </p:nvSpPr>
        <p:spPr/>
        <p:txBody>
          <a:bodyPr/>
          <a:lstStyle/>
          <a:p>
            <a:r>
              <a:rPr lang="en-US" dirty="0"/>
              <a:t>MATLAB, Simulink and App Designer Implementation</a:t>
            </a:r>
          </a:p>
          <a:p>
            <a:endParaRPr lang="ru-RU" dirty="0"/>
          </a:p>
        </p:txBody>
      </p:sp>
    </p:spTree>
    <p:extLst>
      <p:ext uri="{BB962C8B-B14F-4D97-AF65-F5344CB8AC3E}">
        <p14:creationId xmlns:p14="http://schemas.microsoft.com/office/powerpoint/2010/main" val="1419170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50D925-2FC9-4F6B-8A2C-652D057F9460}"/>
              </a:ext>
            </a:extLst>
          </p:cNvPr>
          <p:cNvSpPr>
            <a:spLocks noGrp="1"/>
          </p:cNvSpPr>
          <p:nvPr>
            <p:ph type="title"/>
          </p:nvPr>
        </p:nvSpPr>
        <p:spPr/>
        <p:txBody>
          <a:bodyPr/>
          <a:lstStyle/>
          <a:p>
            <a:r>
              <a:rPr lang="en-US" dirty="0"/>
              <a:t>INTRODUCTION</a:t>
            </a:r>
            <a:endParaRPr lang="ru-RU" dirty="0"/>
          </a:p>
        </p:txBody>
      </p:sp>
      <p:sp>
        <p:nvSpPr>
          <p:cNvPr id="3" name="Объект 2">
            <a:extLst>
              <a:ext uri="{FF2B5EF4-FFF2-40B4-BE49-F238E27FC236}">
                <a16:creationId xmlns:a16="http://schemas.microsoft.com/office/drawing/2014/main" id="{D3C01477-B5B8-45F4-BD15-244B3514FC4F}"/>
              </a:ext>
            </a:extLst>
          </p:cNvPr>
          <p:cNvSpPr>
            <a:spLocks noGrp="1"/>
          </p:cNvSpPr>
          <p:nvPr>
            <p:ph idx="1"/>
          </p:nvPr>
        </p:nvSpPr>
        <p:spPr/>
        <p:txBody>
          <a:bodyPr/>
          <a:lstStyle/>
          <a:p>
            <a:r>
              <a:rPr lang="en-US" dirty="0"/>
              <a:t>Economic growth is a key topic in macroeconomics, as it determines long-term economic development. The Solow growth model provides a simple framework for analyzing how capital accumulation, savings, and population growth affect long-run economic outcomes. In this project, the Solow model is formulated mathematically and implemented computationally using MATLAB. Numerical simulations, Simulink modeling, and an interactive graphical user interface are used to analyze the dynamics of capital and output. The results illustrate convergence to a steady-state equilibrium and are consistent with theoretical predictions.</a:t>
            </a:r>
            <a:endParaRPr lang="ru-RU" dirty="0"/>
          </a:p>
        </p:txBody>
      </p:sp>
    </p:spTree>
    <p:extLst>
      <p:ext uri="{BB962C8B-B14F-4D97-AF65-F5344CB8AC3E}">
        <p14:creationId xmlns:p14="http://schemas.microsoft.com/office/powerpoint/2010/main" val="30571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3BAE76-4C00-40AA-9CFF-BD57CE7EF46D}"/>
              </a:ext>
            </a:extLst>
          </p:cNvPr>
          <p:cNvSpPr>
            <a:spLocks noGrp="1"/>
          </p:cNvSpPr>
          <p:nvPr>
            <p:ph type="title"/>
          </p:nvPr>
        </p:nvSpPr>
        <p:spPr/>
        <p:txBody>
          <a:bodyPr>
            <a:normAutofit fontScale="90000"/>
          </a:bodyPr>
          <a:lstStyle/>
          <a:p>
            <a:r>
              <a:rPr lang="en-US" dirty="0"/>
              <a:t>Project Objective</a:t>
            </a:r>
            <a:br>
              <a:rPr lang="en-US" dirty="0"/>
            </a:br>
            <a:endParaRPr lang="ru-RU" dirty="0"/>
          </a:p>
        </p:txBody>
      </p:sp>
      <p:sp>
        <p:nvSpPr>
          <p:cNvPr id="4" name="Rectangle 1">
            <a:extLst>
              <a:ext uri="{FF2B5EF4-FFF2-40B4-BE49-F238E27FC236}">
                <a16:creationId xmlns:a16="http://schemas.microsoft.com/office/drawing/2014/main" id="{230870DD-8D0D-4F8D-BF2D-0EE89392E603}"/>
              </a:ext>
            </a:extLst>
          </p:cNvPr>
          <p:cNvSpPr>
            <a:spLocks noGrp="1" noChangeArrowheads="1"/>
          </p:cNvSpPr>
          <p:nvPr>
            <p:ph idx="1"/>
          </p:nvPr>
        </p:nvSpPr>
        <p:spPr bwMode="auto">
          <a:xfrm>
            <a:off x="1381760" y="2434218"/>
            <a:ext cx="885495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Study</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long-run</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economic</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growth</a:t>
            </a:r>
            <a:endParaRPr kumimoji="0" lang="ru-RU" altLang="ru-RU" sz="2400" b="0" i="1"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Implement</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the</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Solow</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growth</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model</a:t>
            </a:r>
            <a:endParaRPr kumimoji="0" lang="ru-RU" altLang="ru-RU" sz="2400" b="0" i="1"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Use</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MATLAB,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Simulink</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and</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GUI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Analyze</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steady-state</a:t>
            </a:r>
            <a:r>
              <a:rPr kumimoji="0" lang="ru-RU" altLang="ru-RU" sz="2400" b="0" i="1"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1" u="none" strike="noStrike" cap="none" normalizeH="0" baseline="0" dirty="0" err="1">
                <a:ln>
                  <a:noFill/>
                </a:ln>
                <a:solidFill>
                  <a:schemeClr val="tx1">
                    <a:lumMod val="75000"/>
                  </a:schemeClr>
                </a:solidFill>
                <a:effectLst/>
                <a:latin typeface="Arial" panose="020B0604020202020204" pitchFamily="34" charset="0"/>
              </a:rPr>
              <a:t>behavior</a:t>
            </a:r>
            <a:endParaRPr kumimoji="0" lang="ru-RU" altLang="ru-RU" sz="2400" b="0" i="1"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2400" i="1" dirty="0">
              <a:ln>
                <a:noFill/>
              </a:ln>
              <a:solidFill>
                <a:schemeClr val="tx1">
                  <a:lumMod val="75000"/>
                </a:schemeClr>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2400" dirty="0"/>
              <a:t>The goal of this project is to study economic growth using </a:t>
            </a:r>
            <a:endParaRPr lang="ru-RU" sz="2400" dirty="0"/>
          </a:p>
          <a:p>
            <a:pPr marL="0" lvl="0" indent="0" defTabSz="914400" eaLnBrk="0" fontAlgn="base" hangingPunct="0">
              <a:spcBef>
                <a:spcPct val="0"/>
              </a:spcBef>
              <a:spcAft>
                <a:spcPct val="0"/>
              </a:spcAft>
              <a:buClrTx/>
              <a:buSzTx/>
              <a:buNone/>
            </a:pPr>
            <a:r>
              <a:rPr lang="en-US" sz="2400" dirty="0"/>
              <a:t>the Solow model and implement it computationally.</a:t>
            </a:r>
            <a:endParaRPr kumimoji="0" lang="ru-RU" altLang="ru-RU" sz="2400" b="0" i="1" u="none" strike="noStrike" cap="none" normalizeH="0" baseline="0" dirty="0">
              <a:ln>
                <a:noFill/>
              </a:ln>
              <a:solidFill>
                <a:schemeClr val="tx1">
                  <a:lumMod val="75000"/>
                </a:schemeClr>
              </a:solidFill>
              <a:effectLst/>
              <a:latin typeface="Arial" panose="020B0604020202020204" pitchFamily="34" charset="0"/>
            </a:endParaRPr>
          </a:p>
        </p:txBody>
      </p:sp>
    </p:spTree>
    <p:extLst>
      <p:ext uri="{BB962C8B-B14F-4D97-AF65-F5344CB8AC3E}">
        <p14:creationId xmlns:p14="http://schemas.microsoft.com/office/powerpoint/2010/main" val="1778058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F31B28-38C1-4A0A-ACCE-83EAC5FD82F0}"/>
              </a:ext>
            </a:extLst>
          </p:cNvPr>
          <p:cNvSpPr>
            <a:spLocks noGrp="1"/>
          </p:cNvSpPr>
          <p:nvPr>
            <p:ph type="title"/>
          </p:nvPr>
        </p:nvSpPr>
        <p:spPr/>
        <p:txBody>
          <a:bodyPr>
            <a:normAutofit fontScale="90000"/>
          </a:bodyPr>
          <a:lstStyle/>
          <a:p>
            <a:r>
              <a:rPr lang="en-US" dirty="0"/>
              <a:t>Model Assumptions</a:t>
            </a:r>
            <a:br>
              <a:rPr lang="en-US" dirty="0"/>
            </a:br>
            <a:endParaRPr lang="ru-RU" dirty="0"/>
          </a:p>
        </p:txBody>
      </p:sp>
      <p:sp>
        <p:nvSpPr>
          <p:cNvPr id="4" name="Rectangle 1">
            <a:extLst>
              <a:ext uri="{FF2B5EF4-FFF2-40B4-BE49-F238E27FC236}">
                <a16:creationId xmlns:a16="http://schemas.microsoft.com/office/drawing/2014/main" id="{99E0D6C8-0555-4A83-994B-A84B57D42659}"/>
              </a:ext>
            </a:extLst>
          </p:cNvPr>
          <p:cNvSpPr>
            <a:spLocks noGrp="1" noChangeArrowheads="1"/>
          </p:cNvSpPr>
          <p:nvPr>
            <p:ph idx="1"/>
          </p:nvPr>
        </p:nvSpPr>
        <p:spPr bwMode="auto">
          <a:xfrm>
            <a:off x="913795" y="2422996"/>
            <a:ext cx="1005403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Closed</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economy</a:t>
            </a:r>
            <a:endParaRPr kumimoji="0" lang="ru-RU" altLang="ru-RU" sz="2400" b="0" i="0"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Constant</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savings</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rate</a:t>
            </a:r>
            <a:endParaRPr kumimoji="0" lang="ru-RU" altLang="ru-RU" sz="2400" b="0" i="0"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Exogenous</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population</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growth</a:t>
            </a:r>
            <a:endParaRPr kumimoji="0" lang="ru-RU" altLang="ru-RU" sz="2400" b="0" i="0"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Cobb</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Douglas</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production</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function</a:t>
            </a:r>
            <a:endParaRPr kumimoji="0" lang="ru-RU" altLang="ru-RU" sz="2400" b="0" i="0"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Constant</a:t>
            </a:r>
            <a:r>
              <a:rPr kumimoji="0" lang="ru-RU" altLang="ru-RU" sz="2400" b="0" i="0" u="none" strike="noStrike" cap="none" normalizeH="0" baseline="0" dirty="0">
                <a:ln>
                  <a:noFill/>
                </a:ln>
                <a:solidFill>
                  <a:schemeClr val="tx1">
                    <a:lumMod val="75000"/>
                  </a:schemeClr>
                </a:solidFill>
                <a:effectLst/>
                <a:latin typeface="Arial" panose="020B0604020202020204" pitchFamily="34" charset="0"/>
              </a:rPr>
              <a:t> </a:t>
            </a:r>
            <a:r>
              <a:rPr kumimoji="0" lang="ru-RU" altLang="ru-RU" sz="2400" b="0" i="0" u="none" strike="noStrike" cap="none" normalizeH="0" baseline="0" dirty="0" err="1">
                <a:ln>
                  <a:noFill/>
                </a:ln>
                <a:solidFill>
                  <a:schemeClr val="tx1">
                    <a:lumMod val="75000"/>
                  </a:schemeClr>
                </a:solidFill>
                <a:effectLst/>
                <a:latin typeface="Arial" panose="020B0604020202020204" pitchFamily="34" charset="0"/>
              </a:rPr>
              <a:t>technology</a:t>
            </a:r>
            <a:endParaRPr kumimoji="0" lang="ru-RU" altLang="ru-RU" sz="2400" b="0" i="0" u="none" strike="noStrike" cap="none" normalizeH="0" baseline="0" dirty="0">
              <a:ln>
                <a:noFill/>
              </a:ln>
              <a:solidFill>
                <a:schemeClr val="tx1">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24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2400" dirty="0"/>
              <a:t>These assumptions simplify the model while keeping its economic meaning.</a:t>
            </a:r>
            <a:endParaRPr kumimoji="0" lang="ru-RU" altLang="ru-RU"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784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B7D0C4-A791-4660-BA40-87452F3F74C0}"/>
              </a:ext>
            </a:extLst>
          </p:cNvPr>
          <p:cNvSpPr>
            <a:spLocks noGrp="1"/>
          </p:cNvSpPr>
          <p:nvPr>
            <p:ph type="title"/>
          </p:nvPr>
        </p:nvSpPr>
        <p:spPr>
          <a:xfrm>
            <a:off x="761395" y="873760"/>
            <a:ext cx="10353762" cy="970450"/>
          </a:xfrm>
        </p:spPr>
        <p:txBody>
          <a:bodyPr>
            <a:normAutofit fontScale="90000"/>
          </a:bodyPr>
          <a:lstStyle/>
          <a:p>
            <a:r>
              <a:rPr lang="en-US" dirty="0"/>
              <a:t>Mathematical Model</a:t>
            </a:r>
            <a:br>
              <a:rPr lang="en-US" dirty="0"/>
            </a:br>
            <a:endParaRPr lang="ru-RU" dirty="0"/>
          </a:p>
        </p:txBody>
      </p:sp>
      <p:pic>
        <p:nvPicPr>
          <p:cNvPr id="4" name="Объект 3">
            <a:extLst>
              <a:ext uri="{FF2B5EF4-FFF2-40B4-BE49-F238E27FC236}">
                <a16:creationId xmlns:a16="http://schemas.microsoft.com/office/drawing/2014/main" id="{1864058A-DFAC-4845-A708-5A23A1E6816C}"/>
              </a:ext>
            </a:extLst>
          </p:cNvPr>
          <p:cNvPicPr>
            <a:picLocks noGrp="1" noChangeAspect="1"/>
          </p:cNvPicPr>
          <p:nvPr>
            <p:ph idx="1"/>
          </p:nvPr>
        </p:nvPicPr>
        <p:blipFill>
          <a:blip r:embed="rId2"/>
          <a:stretch>
            <a:fillRect/>
          </a:stretch>
        </p:blipFill>
        <p:spPr>
          <a:xfrm>
            <a:off x="1460903" y="1941362"/>
            <a:ext cx="2467319" cy="619211"/>
          </a:xfrm>
          <a:prstGeom prst="rect">
            <a:avLst/>
          </a:prstGeom>
        </p:spPr>
      </p:pic>
      <p:sp>
        <p:nvSpPr>
          <p:cNvPr id="6" name="Rectangle 1">
            <a:extLst>
              <a:ext uri="{FF2B5EF4-FFF2-40B4-BE49-F238E27FC236}">
                <a16:creationId xmlns:a16="http://schemas.microsoft.com/office/drawing/2014/main" id="{504F5E82-D778-4ADF-B20A-556A8A5E382B}"/>
              </a:ext>
            </a:extLst>
          </p:cNvPr>
          <p:cNvSpPr>
            <a:spLocks noChangeArrowheads="1"/>
          </p:cNvSpPr>
          <p:nvPr/>
        </p:nvSpPr>
        <p:spPr bwMode="auto">
          <a:xfrm>
            <a:off x="383986" y="3429000"/>
            <a:ext cx="509279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k – </a:t>
            </a:r>
            <a:r>
              <a:rPr kumimoji="0" lang="ru-RU" altLang="ru-RU" sz="1800" b="0" i="0" u="none" strike="noStrike" cap="none" normalizeH="0" baseline="0" dirty="0" err="1">
                <a:ln>
                  <a:noFill/>
                </a:ln>
                <a:solidFill>
                  <a:schemeClr val="tx1"/>
                </a:solidFill>
                <a:effectLst/>
                <a:latin typeface="Arial" panose="020B0604020202020204" pitchFamily="34" charset="0"/>
              </a:rPr>
              <a:t>capital</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per</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worker</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s – </a:t>
            </a:r>
            <a:r>
              <a:rPr kumimoji="0" lang="ru-RU" altLang="ru-RU" sz="1800" b="0" i="0" u="none" strike="noStrike" cap="none" normalizeH="0" baseline="0" dirty="0" err="1">
                <a:ln>
                  <a:noFill/>
                </a:ln>
                <a:solidFill>
                  <a:schemeClr val="tx1"/>
                </a:solidFill>
                <a:effectLst/>
                <a:latin typeface="Arial" panose="020B0604020202020204" pitchFamily="34" charset="0"/>
              </a:rPr>
              <a:t>savings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rate</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n – </a:t>
            </a:r>
            <a:r>
              <a:rPr kumimoji="0" lang="ru-RU" altLang="ru-RU" sz="1800" b="0" i="0" u="none" strike="noStrike" cap="none" normalizeH="0" baseline="0" dirty="0" err="1">
                <a:ln>
                  <a:noFill/>
                </a:ln>
                <a:solidFill>
                  <a:schemeClr val="tx1"/>
                </a:solidFill>
                <a:effectLst/>
                <a:latin typeface="Arial" panose="020B0604020202020204" pitchFamily="34" charset="0"/>
              </a:rPr>
              <a:t>population</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growth</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δ – </a:t>
            </a:r>
            <a:r>
              <a:rPr kumimoji="0" lang="ru-RU" altLang="ru-RU" sz="1800" b="0" i="0" u="none" strike="noStrike" cap="none" normalizeH="0" baseline="0" dirty="0" err="1">
                <a:ln>
                  <a:noFill/>
                </a:ln>
                <a:solidFill>
                  <a:schemeClr val="tx1"/>
                </a:solidFill>
                <a:effectLst/>
                <a:latin typeface="Arial" panose="020B0604020202020204" pitchFamily="34" charset="0"/>
              </a:rPr>
              <a:t>depreciation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ru-RU" altLang="ru-RU" dirty="0">
              <a:latin typeface="Arial" panose="020B0604020202020204" pitchFamily="34" charset="0"/>
            </a:endParaRPr>
          </a:p>
          <a:p>
            <a:pPr lvl="0" defTabSz="914400" eaLnBrk="0" fontAlgn="base" hangingPunct="0">
              <a:spcBef>
                <a:spcPct val="0"/>
              </a:spcBef>
              <a:spcAft>
                <a:spcPct val="0"/>
              </a:spcAft>
            </a:pPr>
            <a:r>
              <a:rPr lang="en-US" dirty="0"/>
              <a:t>This differential equation describes how capital per worker evolves over time.</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7" name="Рисунок 6">
            <a:extLst>
              <a:ext uri="{FF2B5EF4-FFF2-40B4-BE49-F238E27FC236}">
                <a16:creationId xmlns:a16="http://schemas.microsoft.com/office/drawing/2014/main" id="{BF079C93-ACBF-4739-AF44-2DFA88D013AC}"/>
              </a:ext>
            </a:extLst>
          </p:cNvPr>
          <p:cNvPicPr>
            <a:picLocks noChangeAspect="1"/>
          </p:cNvPicPr>
          <p:nvPr/>
        </p:nvPicPr>
        <p:blipFill>
          <a:blip r:embed="rId3"/>
          <a:stretch>
            <a:fillRect/>
          </a:stretch>
        </p:blipFill>
        <p:spPr>
          <a:xfrm>
            <a:off x="8584448" y="3962724"/>
            <a:ext cx="1800476" cy="638264"/>
          </a:xfrm>
          <a:prstGeom prst="rect">
            <a:avLst/>
          </a:prstGeom>
        </p:spPr>
      </p:pic>
      <p:sp>
        <p:nvSpPr>
          <p:cNvPr id="8" name="TextBox 7">
            <a:extLst>
              <a:ext uri="{FF2B5EF4-FFF2-40B4-BE49-F238E27FC236}">
                <a16:creationId xmlns:a16="http://schemas.microsoft.com/office/drawing/2014/main" id="{E77F2B6F-9978-49DC-992A-6A6AA3C06A20}"/>
              </a:ext>
            </a:extLst>
          </p:cNvPr>
          <p:cNvSpPr txBox="1"/>
          <p:nvPr/>
        </p:nvSpPr>
        <p:spPr>
          <a:xfrm>
            <a:off x="7854215" y="2036440"/>
            <a:ext cx="3260942" cy="1200329"/>
          </a:xfrm>
          <a:prstGeom prst="rect">
            <a:avLst/>
          </a:prstGeom>
          <a:noFill/>
        </p:spPr>
        <p:txBody>
          <a:bodyPr wrap="square" rtlCol="0">
            <a:spAutoFit/>
          </a:bodyPr>
          <a:lstStyle/>
          <a:p>
            <a:r>
              <a:rPr lang="en-US" dirty="0"/>
              <a:t>To solve this equation, we need an initial condition.</a:t>
            </a:r>
          </a:p>
          <a:p>
            <a:r>
              <a:rPr lang="en-US" dirty="0"/>
              <a:t>We assume:</a:t>
            </a:r>
          </a:p>
          <a:p>
            <a:endParaRPr lang="ru-RU" dirty="0"/>
          </a:p>
        </p:txBody>
      </p:sp>
    </p:spTree>
    <p:extLst>
      <p:ext uri="{BB962C8B-B14F-4D97-AF65-F5344CB8AC3E}">
        <p14:creationId xmlns:p14="http://schemas.microsoft.com/office/powerpoint/2010/main" val="246939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015DCA-0DDB-4889-B137-CF4C7A5FEF03}"/>
              </a:ext>
            </a:extLst>
          </p:cNvPr>
          <p:cNvSpPr>
            <a:spLocks noGrp="1"/>
          </p:cNvSpPr>
          <p:nvPr>
            <p:ph type="title"/>
          </p:nvPr>
        </p:nvSpPr>
        <p:spPr/>
        <p:txBody>
          <a:bodyPr/>
          <a:lstStyle/>
          <a:p>
            <a:r>
              <a:rPr lang="en-US"/>
              <a:t>Steady-State Analysis</a:t>
            </a:r>
          </a:p>
        </p:txBody>
      </p:sp>
      <p:pic>
        <p:nvPicPr>
          <p:cNvPr id="4" name="Рисунок 3">
            <a:extLst>
              <a:ext uri="{FF2B5EF4-FFF2-40B4-BE49-F238E27FC236}">
                <a16:creationId xmlns:a16="http://schemas.microsoft.com/office/drawing/2014/main" id="{C567FA44-3705-4F70-B3BE-9F37E2A2A129}"/>
              </a:ext>
            </a:extLst>
          </p:cNvPr>
          <p:cNvPicPr>
            <a:picLocks noChangeAspect="1"/>
          </p:cNvPicPr>
          <p:nvPr/>
        </p:nvPicPr>
        <p:blipFill>
          <a:blip r:embed="rId2"/>
          <a:stretch>
            <a:fillRect/>
          </a:stretch>
        </p:blipFill>
        <p:spPr>
          <a:xfrm>
            <a:off x="4764257" y="1580050"/>
            <a:ext cx="2114845" cy="1086002"/>
          </a:xfrm>
          <a:prstGeom prst="rect">
            <a:avLst/>
          </a:prstGeom>
        </p:spPr>
      </p:pic>
      <p:sp>
        <p:nvSpPr>
          <p:cNvPr id="5" name="Rectangle 1">
            <a:extLst>
              <a:ext uri="{FF2B5EF4-FFF2-40B4-BE49-F238E27FC236}">
                <a16:creationId xmlns:a16="http://schemas.microsoft.com/office/drawing/2014/main" id="{1994ABC7-2236-42B7-8C2F-EB0A3635427E}"/>
              </a:ext>
            </a:extLst>
          </p:cNvPr>
          <p:cNvSpPr>
            <a:spLocks noGrp="1" noChangeArrowheads="1"/>
          </p:cNvSpPr>
          <p:nvPr>
            <p:ph idx="1"/>
          </p:nvPr>
        </p:nvSpPr>
        <p:spPr bwMode="auto">
          <a:xfrm>
            <a:off x="1046479" y="3656728"/>
            <a:ext cx="10221077"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Economy</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converges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to</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steady</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state</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Long-run</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equilibrium</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18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1800" dirty="0"/>
              <a:t>In the long run, the economy converges to a steady-state level of capital.</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9934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2932F7-98FF-4E99-AF39-80F00344120E}"/>
              </a:ext>
            </a:extLst>
          </p:cNvPr>
          <p:cNvSpPr>
            <a:spLocks noGrp="1"/>
          </p:cNvSpPr>
          <p:nvPr>
            <p:ph type="title"/>
          </p:nvPr>
        </p:nvSpPr>
        <p:spPr/>
        <p:txBody>
          <a:bodyPr>
            <a:normAutofit fontScale="90000"/>
          </a:bodyPr>
          <a:lstStyle/>
          <a:p>
            <a:r>
              <a:rPr lang="en-US" dirty="0"/>
              <a:t>MATLAB Numerical Implementation</a:t>
            </a:r>
            <a:br>
              <a:rPr lang="en-US" dirty="0"/>
            </a:br>
            <a:endParaRPr lang="ru-RU" dirty="0"/>
          </a:p>
        </p:txBody>
      </p:sp>
      <p:sp>
        <p:nvSpPr>
          <p:cNvPr id="4" name="Rectangle 1">
            <a:extLst>
              <a:ext uri="{FF2B5EF4-FFF2-40B4-BE49-F238E27FC236}">
                <a16:creationId xmlns:a16="http://schemas.microsoft.com/office/drawing/2014/main" id="{514DE256-D756-4FDC-83A6-F405508C2FD7}"/>
              </a:ext>
            </a:extLst>
          </p:cNvPr>
          <p:cNvSpPr>
            <a:spLocks noGrp="1" noChangeArrowheads="1"/>
          </p:cNvSpPr>
          <p:nvPr>
            <p:ph idx="1"/>
          </p:nvPr>
        </p:nvSpPr>
        <p:spPr bwMode="auto">
          <a:xfrm>
            <a:off x="365155" y="1997839"/>
            <a:ext cx="40849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ODE </a:t>
            </a:r>
            <a:r>
              <a:rPr kumimoji="0" lang="ru-RU" altLang="ru-RU" sz="1800" b="0" i="0" u="none" strike="noStrike" cap="none" normalizeH="0" baseline="0" dirty="0" err="1">
                <a:ln>
                  <a:noFill/>
                </a:ln>
                <a:solidFill>
                  <a:schemeClr val="tx1"/>
                </a:solidFill>
                <a:effectLst/>
                <a:latin typeface="Arial" panose="020B0604020202020204" pitchFamily="34" charset="0"/>
              </a:rPr>
              <a:t>solved</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using</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000" b="0" i="0" u="none" strike="noStrike" cap="none" normalizeH="0" baseline="0" dirty="0">
                <a:ln>
                  <a:noFill/>
                </a:ln>
                <a:solidFill>
                  <a:schemeClr val="tx1"/>
                </a:solidFill>
                <a:effectLst/>
                <a:latin typeface="Arial Unicode MS"/>
              </a:rPr>
              <a:t>ode45</a:t>
            </a:r>
            <a:endParaRPr kumimoji="0" lang="ru-RU" altLang="ru-RU"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Separate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function</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file</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Numerical</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simulation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Steady-state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verification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18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1800" dirty="0"/>
              <a:t>MATLAB is used to solve the model numerically and visualize the dynamics.</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5" name="Рисунок 4">
            <a:extLst>
              <a:ext uri="{FF2B5EF4-FFF2-40B4-BE49-F238E27FC236}">
                <a16:creationId xmlns:a16="http://schemas.microsoft.com/office/drawing/2014/main" id="{319556FB-C9D1-49ED-8EA7-E20C6F138D11}"/>
              </a:ext>
            </a:extLst>
          </p:cNvPr>
          <p:cNvPicPr>
            <a:picLocks noChangeAspect="1"/>
          </p:cNvPicPr>
          <p:nvPr/>
        </p:nvPicPr>
        <p:blipFill>
          <a:blip r:embed="rId2"/>
          <a:stretch>
            <a:fillRect/>
          </a:stretch>
        </p:blipFill>
        <p:spPr>
          <a:xfrm>
            <a:off x="4775200" y="2002372"/>
            <a:ext cx="3454143" cy="3078481"/>
          </a:xfrm>
          <a:prstGeom prst="rect">
            <a:avLst/>
          </a:prstGeom>
        </p:spPr>
      </p:pic>
      <p:pic>
        <p:nvPicPr>
          <p:cNvPr id="6" name="Рисунок 5">
            <a:extLst>
              <a:ext uri="{FF2B5EF4-FFF2-40B4-BE49-F238E27FC236}">
                <a16:creationId xmlns:a16="http://schemas.microsoft.com/office/drawing/2014/main" id="{AB33B476-7A55-468D-8F31-111899B0B88B}"/>
              </a:ext>
            </a:extLst>
          </p:cNvPr>
          <p:cNvPicPr>
            <a:picLocks noChangeAspect="1"/>
          </p:cNvPicPr>
          <p:nvPr/>
        </p:nvPicPr>
        <p:blipFill>
          <a:blip r:embed="rId3"/>
          <a:stretch>
            <a:fillRect/>
          </a:stretch>
        </p:blipFill>
        <p:spPr>
          <a:xfrm>
            <a:off x="8410449" y="2002372"/>
            <a:ext cx="3564786" cy="3423067"/>
          </a:xfrm>
          <a:prstGeom prst="rect">
            <a:avLst/>
          </a:prstGeom>
        </p:spPr>
      </p:pic>
    </p:spTree>
    <p:extLst>
      <p:ext uri="{BB962C8B-B14F-4D97-AF65-F5344CB8AC3E}">
        <p14:creationId xmlns:p14="http://schemas.microsoft.com/office/powerpoint/2010/main" val="631851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E72246-D016-480B-8BBD-4694404B63E3}"/>
              </a:ext>
            </a:extLst>
          </p:cNvPr>
          <p:cNvSpPr>
            <a:spLocks noGrp="1"/>
          </p:cNvSpPr>
          <p:nvPr>
            <p:ph type="title"/>
          </p:nvPr>
        </p:nvSpPr>
        <p:spPr/>
        <p:txBody>
          <a:bodyPr>
            <a:normAutofit fontScale="90000"/>
          </a:bodyPr>
          <a:lstStyle/>
          <a:p>
            <a:r>
              <a:rPr lang="en-US" dirty="0"/>
              <a:t>Simulink Model</a:t>
            </a:r>
            <a:br>
              <a:rPr lang="en-US" dirty="0"/>
            </a:br>
            <a:endParaRPr lang="ru-RU" dirty="0"/>
          </a:p>
        </p:txBody>
      </p:sp>
      <p:sp>
        <p:nvSpPr>
          <p:cNvPr id="4" name="Rectangle 1">
            <a:extLst>
              <a:ext uri="{FF2B5EF4-FFF2-40B4-BE49-F238E27FC236}">
                <a16:creationId xmlns:a16="http://schemas.microsoft.com/office/drawing/2014/main" id="{3D5CCBCB-C52E-48A0-BA3C-15CF8093FBD9}"/>
              </a:ext>
            </a:extLst>
          </p:cNvPr>
          <p:cNvSpPr>
            <a:spLocks noGrp="1" noChangeArrowheads="1"/>
          </p:cNvSpPr>
          <p:nvPr>
            <p:ph idx="1"/>
          </p:nvPr>
        </p:nvSpPr>
        <p:spPr bwMode="auto">
          <a:xfrm>
            <a:off x="613574" y="1506643"/>
            <a:ext cx="468436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Block</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diagram</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representation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Integrator</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for</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capital</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Gain</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and</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Sum</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blocks</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Scope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for</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visualization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18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1800" dirty="0"/>
              <a:t>Simulink provides a visual representation of the differential equation.</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5" name="Рисунок 4">
            <a:extLst>
              <a:ext uri="{FF2B5EF4-FFF2-40B4-BE49-F238E27FC236}">
                <a16:creationId xmlns:a16="http://schemas.microsoft.com/office/drawing/2014/main" id="{C294A5FE-B57E-4EB5-B40C-2CB917AE1DB4}"/>
              </a:ext>
            </a:extLst>
          </p:cNvPr>
          <p:cNvPicPr>
            <a:picLocks noChangeAspect="1"/>
          </p:cNvPicPr>
          <p:nvPr/>
        </p:nvPicPr>
        <p:blipFill>
          <a:blip r:embed="rId2"/>
          <a:stretch>
            <a:fillRect/>
          </a:stretch>
        </p:blipFill>
        <p:spPr>
          <a:xfrm>
            <a:off x="6090676" y="1580050"/>
            <a:ext cx="5507465" cy="2185089"/>
          </a:xfrm>
          <a:prstGeom prst="rect">
            <a:avLst/>
          </a:prstGeom>
        </p:spPr>
      </p:pic>
    </p:spTree>
    <p:extLst>
      <p:ext uri="{BB962C8B-B14F-4D97-AF65-F5344CB8AC3E}">
        <p14:creationId xmlns:p14="http://schemas.microsoft.com/office/powerpoint/2010/main" val="1120707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B9FD21-9E36-40A8-8DCB-87F61F791592}"/>
              </a:ext>
            </a:extLst>
          </p:cNvPr>
          <p:cNvSpPr>
            <a:spLocks noGrp="1"/>
          </p:cNvSpPr>
          <p:nvPr>
            <p:ph type="title"/>
          </p:nvPr>
        </p:nvSpPr>
        <p:spPr/>
        <p:txBody>
          <a:bodyPr>
            <a:normAutofit fontScale="90000"/>
          </a:bodyPr>
          <a:lstStyle/>
          <a:p>
            <a:r>
              <a:rPr lang="en-US" dirty="0"/>
              <a:t>Graphical User Interface</a:t>
            </a:r>
            <a:br>
              <a:rPr lang="en-US" dirty="0"/>
            </a:br>
            <a:endParaRPr lang="ru-RU" dirty="0"/>
          </a:p>
        </p:txBody>
      </p:sp>
      <p:sp>
        <p:nvSpPr>
          <p:cNvPr id="4" name="Rectangle 1">
            <a:extLst>
              <a:ext uri="{FF2B5EF4-FFF2-40B4-BE49-F238E27FC236}">
                <a16:creationId xmlns:a16="http://schemas.microsoft.com/office/drawing/2014/main" id="{3E743F39-E099-4013-BDF0-B19AFCE07CB8}"/>
              </a:ext>
            </a:extLst>
          </p:cNvPr>
          <p:cNvSpPr>
            <a:spLocks noGrp="1" noChangeArrowheads="1"/>
          </p:cNvSpPr>
          <p:nvPr>
            <p:ph idx="1"/>
          </p:nvPr>
        </p:nvSpPr>
        <p:spPr bwMode="auto">
          <a:xfrm>
            <a:off x="588675" y="1674674"/>
            <a:ext cx="569168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Interactive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parameter</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input</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Real-time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simulation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Automatic</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steady-state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calculation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User-friendly</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design</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18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1800" dirty="0"/>
              <a:t>The GUI allows users to interactively explore the model.</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5" name="Рисунок 4">
            <a:extLst>
              <a:ext uri="{FF2B5EF4-FFF2-40B4-BE49-F238E27FC236}">
                <a16:creationId xmlns:a16="http://schemas.microsoft.com/office/drawing/2014/main" id="{7C93FE4D-8723-4C7F-9333-89B44E166B36}"/>
              </a:ext>
            </a:extLst>
          </p:cNvPr>
          <p:cNvPicPr>
            <a:picLocks noChangeAspect="1"/>
          </p:cNvPicPr>
          <p:nvPr/>
        </p:nvPicPr>
        <p:blipFill>
          <a:blip r:embed="rId2"/>
          <a:stretch>
            <a:fillRect/>
          </a:stretch>
        </p:blipFill>
        <p:spPr>
          <a:xfrm>
            <a:off x="6090676" y="1300480"/>
            <a:ext cx="5746798" cy="3658278"/>
          </a:xfrm>
          <a:prstGeom prst="rect">
            <a:avLst/>
          </a:prstGeom>
        </p:spPr>
      </p:pic>
    </p:spTree>
    <p:extLst>
      <p:ext uri="{BB962C8B-B14F-4D97-AF65-F5344CB8AC3E}">
        <p14:creationId xmlns:p14="http://schemas.microsoft.com/office/powerpoint/2010/main" val="268991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114F7FD-2959-4C51-A9AB-4C395B27FA1A}"/>
              </a:ext>
            </a:extLst>
          </p:cNvPr>
          <p:cNvSpPr>
            <a:spLocks noGrp="1" noChangeArrowheads="1"/>
          </p:cNvSpPr>
          <p:nvPr>
            <p:ph type="title"/>
          </p:nvPr>
        </p:nvSpPr>
        <p:spPr bwMode="auto">
          <a:xfrm>
            <a:off x="4323720" y="136041"/>
            <a:ext cx="3544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l" defTabSz="914400" eaLnBrk="0" fontAlgn="base" hangingPunct="0">
              <a:spcAft>
                <a:spcPct val="0"/>
              </a:spcAft>
            </a:pPr>
            <a:r>
              <a:rPr lang="en-US" altLang="ru-RU" sz="2800" b="1" dirty="0">
                <a:ln>
                  <a:noFill/>
                </a:ln>
                <a:solidFill>
                  <a:schemeClr val="tx1"/>
                </a:solidFill>
                <a:effectLst/>
                <a:latin typeface="Arial" panose="020B0604020202020204" pitchFamily="34" charset="0"/>
              </a:rPr>
              <a:t>Simulation Results</a:t>
            </a:r>
            <a:endParaRPr kumimoji="0" lang="en-US" altLang="ru-RU" sz="2800" b="1"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8DC3846-1B86-4681-B0AB-5BDAACB49D9F}"/>
              </a:ext>
            </a:extLst>
          </p:cNvPr>
          <p:cNvSpPr>
            <a:spLocks noGrp="1" noChangeArrowheads="1"/>
          </p:cNvSpPr>
          <p:nvPr>
            <p:ph idx="1"/>
          </p:nvPr>
        </p:nvSpPr>
        <p:spPr bwMode="auto">
          <a:xfrm>
            <a:off x="273715" y="668302"/>
            <a:ext cx="841089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Capital</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converges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to</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steady</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state</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Results</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match</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theory</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1800" b="0" i="0" u="none" strike="noStrike" cap="none" normalizeH="0" baseline="0" dirty="0" err="1">
                <a:ln>
                  <a:noFill/>
                </a:ln>
                <a:solidFill>
                  <a:schemeClr val="tx1"/>
                </a:solidFill>
                <a:effectLst/>
                <a:latin typeface="Arial" panose="020B0604020202020204" pitchFamily="34" charset="0"/>
              </a:rPr>
              <a:t>Stable</a:t>
            </a:r>
            <a:r>
              <a:rPr kumimoji="0" lang="ru-RU" altLang="ru-RU" sz="1800" b="0" i="0" u="none" strike="noStrike" cap="none" normalizeH="0" baseline="0" dirty="0">
                <a:ln>
                  <a:noFill/>
                </a:ln>
                <a:solidFill>
                  <a:schemeClr val="tx1"/>
                </a:solidFill>
                <a:effectLst/>
                <a:latin typeface="Arial" panose="020B0604020202020204" pitchFamily="34" charset="0"/>
              </a:rPr>
              <a:t> </a:t>
            </a:r>
            <a:r>
              <a:rPr kumimoji="0" lang="ru-RU" altLang="ru-RU" sz="1800" b="0" i="0" u="none" strike="noStrike" cap="none" normalizeH="0" baseline="0" dirty="0" err="1">
                <a:ln>
                  <a:noFill/>
                </a:ln>
                <a:solidFill>
                  <a:schemeClr val="tx1"/>
                </a:solidFill>
                <a:effectLst/>
                <a:latin typeface="Arial" panose="020B0604020202020204" pitchFamily="34" charset="0"/>
              </a:rPr>
              <a:t>behavior</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ru-RU" altLang="ru-RU" sz="1800" dirty="0">
              <a:ln>
                <a:noFill/>
              </a:ln>
              <a:solidFill>
                <a:schemeClr val="tx1"/>
              </a:solidFill>
              <a:effectLst/>
              <a:latin typeface="Arial" panose="020B0604020202020204" pitchFamily="34" charset="0"/>
            </a:endParaRPr>
          </a:p>
          <a:p>
            <a:pPr marL="0" lvl="0" indent="0" defTabSz="914400" eaLnBrk="0" fontAlgn="base" hangingPunct="0">
              <a:spcBef>
                <a:spcPct val="0"/>
              </a:spcBef>
              <a:spcAft>
                <a:spcPct val="0"/>
              </a:spcAft>
              <a:buClrTx/>
              <a:buSzTx/>
              <a:buNone/>
            </a:pPr>
            <a:r>
              <a:rPr lang="en-US" sz="1800" dirty="0"/>
              <a:t>Simulation results are consistent with theoretical predictions.</a:t>
            </a:r>
            <a:endParaRPr lang="ru-RU" sz="1800" dirty="0"/>
          </a:p>
          <a:p>
            <a:pPr marL="0" lvl="0" indent="0" defTabSz="914400" eaLnBrk="0" fontAlgn="base" hangingPunct="0">
              <a:spcBef>
                <a:spcPct val="0"/>
              </a:spcBef>
              <a:spcAft>
                <a:spcPct val="0"/>
              </a:spcAft>
              <a:buClrTx/>
              <a:buSzTx/>
              <a:buNone/>
            </a:pPr>
            <a:r>
              <a:rPr lang="en-US" sz="1800" dirty="0"/>
              <a:t>This slide shows the simulation results obtained using the interactive GUI.</a:t>
            </a:r>
            <a:endParaRPr lang="ru-RU" sz="1800" dirty="0"/>
          </a:p>
          <a:p>
            <a:pPr marL="0" lvl="0" indent="0" defTabSz="914400" eaLnBrk="0" fontAlgn="base" hangingPunct="0">
              <a:spcBef>
                <a:spcPct val="0"/>
              </a:spcBef>
              <a:spcAft>
                <a:spcPct val="0"/>
              </a:spcAft>
              <a:buClrTx/>
              <a:buSzTx/>
              <a:buNone/>
            </a:pPr>
            <a:r>
              <a:rPr lang="en-US" sz="1800" dirty="0"/>
              <a:t> Capital and output converge smoothly to the steady-state values predicted by theory.</a:t>
            </a: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6" name="Рисунок 5">
            <a:extLst>
              <a:ext uri="{FF2B5EF4-FFF2-40B4-BE49-F238E27FC236}">
                <a16:creationId xmlns:a16="http://schemas.microsoft.com/office/drawing/2014/main" id="{F6F7AA99-6B54-44AB-A9C4-A008E6EA49AD}"/>
              </a:ext>
            </a:extLst>
          </p:cNvPr>
          <p:cNvPicPr>
            <a:picLocks noChangeAspect="1"/>
          </p:cNvPicPr>
          <p:nvPr/>
        </p:nvPicPr>
        <p:blipFill>
          <a:blip r:embed="rId2"/>
          <a:stretch>
            <a:fillRect/>
          </a:stretch>
        </p:blipFill>
        <p:spPr>
          <a:xfrm>
            <a:off x="3046601" y="3063595"/>
            <a:ext cx="6488072" cy="3421642"/>
          </a:xfrm>
          <a:prstGeom prst="rect">
            <a:avLst/>
          </a:prstGeom>
        </p:spPr>
      </p:pic>
    </p:spTree>
    <p:extLst>
      <p:ext uri="{BB962C8B-B14F-4D97-AF65-F5344CB8AC3E}">
        <p14:creationId xmlns:p14="http://schemas.microsoft.com/office/powerpoint/2010/main" val="3390315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3E9B8A-2084-4A4C-A6EA-905BA61D1C78}"/>
              </a:ext>
            </a:extLst>
          </p:cNvPr>
          <p:cNvSpPr>
            <a:spLocks noGrp="1"/>
          </p:cNvSpPr>
          <p:nvPr>
            <p:ph type="title"/>
          </p:nvPr>
        </p:nvSpPr>
        <p:spPr/>
        <p:txBody>
          <a:bodyPr>
            <a:normAutofit fontScale="90000"/>
          </a:bodyPr>
          <a:lstStyle/>
          <a:p>
            <a:r>
              <a:rPr lang="en-US" dirty="0"/>
              <a:t>Conclusion</a:t>
            </a:r>
            <a:br>
              <a:rPr lang="en-US" dirty="0"/>
            </a:br>
            <a:endParaRPr lang="ru-RU" dirty="0"/>
          </a:p>
        </p:txBody>
      </p:sp>
      <p:sp>
        <p:nvSpPr>
          <p:cNvPr id="3" name="Объект 2">
            <a:extLst>
              <a:ext uri="{FF2B5EF4-FFF2-40B4-BE49-F238E27FC236}">
                <a16:creationId xmlns:a16="http://schemas.microsoft.com/office/drawing/2014/main" id="{436244BD-8F2E-4815-BD3F-0FABF18640BB}"/>
              </a:ext>
            </a:extLst>
          </p:cNvPr>
          <p:cNvSpPr>
            <a:spLocks noGrp="1"/>
          </p:cNvSpPr>
          <p:nvPr>
            <p:ph idx="1"/>
          </p:nvPr>
        </p:nvSpPr>
        <p:spPr/>
        <p:txBody>
          <a:bodyPr/>
          <a:lstStyle/>
          <a:p>
            <a:r>
              <a:rPr lang="en-US" dirty="0"/>
              <a:t>Model implemented successfully</a:t>
            </a:r>
          </a:p>
          <a:p>
            <a:r>
              <a:rPr lang="en-US" dirty="0"/>
              <a:t>MATLAB, Simulink, and GUI combined</a:t>
            </a:r>
          </a:p>
          <a:p>
            <a:r>
              <a:rPr lang="en-US" dirty="0"/>
              <a:t>Useful for education and analysis</a:t>
            </a:r>
          </a:p>
          <a:p>
            <a:pPr marL="36900" indent="0">
              <a:buNone/>
            </a:pPr>
            <a:endParaRPr lang="ru-RU" dirty="0"/>
          </a:p>
          <a:p>
            <a:pPr marL="36900" indent="0">
              <a:buNone/>
            </a:pPr>
            <a:endParaRPr lang="ru-RU" dirty="0"/>
          </a:p>
          <a:p>
            <a:pPr marL="36900" indent="0">
              <a:buNone/>
            </a:pPr>
            <a:r>
              <a:rPr lang="en-US" dirty="0"/>
              <a:t>The project successfully demonstrates economic growth dynamics.</a:t>
            </a:r>
          </a:p>
          <a:p>
            <a:endParaRPr lang="ru-RU" dirty="0"/>
          </a:p>
        </p:txBody>
      </p:sp>
    </p:spTree>
    <p:extLst>
      <p:ext uri="{BB962C8B-B14F-4D97-AF65-F5344CB8AC3E}">
        <p14:creationId xmlns:p14="http://schemas.microsoft.com/office/powerpoint/2010/main" val="8525277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ланец">
  <a:themeElements>
    <a:clrScheme name="Сланец">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Сланец">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ланец">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TM04033929[[fn=Сланец]]</Template>
  <TotalTime>111</TotalTime>
  <Words>393</Words>
  <Application>Microsoft Office PowerPoint</Application>
  <PresentationFormat>Широкоэкранный</PresentationFormat>
  <Paragraphs>72</Paragraphs>
  <Slides>11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11</vt:i4>
      </vt:variant>
    </vt:vector>
  </HeadingPairs>
  <TitlesOfParts>
    <vt:vector size="16" baseType="lpstr">
      <vt:lpstr>Arial</vt:lpstr>
      <vt:lpstr>Arial Unicode MS</vt:lpstr>
      <vt:lpstr>Calisto MT</vt:lpstr>
      <vt:lpstr>Wingdings 2</vt:lpstr>
      <vt:lpstr>Сланец</vt:lpstr>
      <vt:lpstr>Economic Growth Model</vt:lpstr>
      <vt:lpstr>INTRODUCTION</vt:lpstr>
      <vt:lpstr>Project Objective </vt:lpstr>
      <vt:lpstr>Model Assumptions </vt:lpstr>
      <vt:lpstr>Mathematical Model </vt:lpstr>
      <vt:lpstr>Steady-State Analysis</vt:lpstr>
      <vt:lpstr>MATLAB Numerical Implementation </vt:lpstr>
      <vt:lpstr>Simulink Model </vt:lpstr>
      <vt:lpstr>Graphical User Interface </vt:lpstr>
      <vt:lpstr>Simulation Results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Growth Model</dc:title>
  <dc:creator>aibek aibek</dc:creator>
  <cp:lastModifiedBy>aibek aibek</cp:lastModifiedBy>
  <cp:revision>2</cp:revision>
  <dcterms:created xsi:type="dcterms:W3CDTF">2025-12-26T03:06:19Z</dcterms:created>
  <dcterms:modified xsi:type="dcterms:W3CDTF">2025-12-26T04:57:20Z</dcterms:modified>
</cp:coreProperties>
</file>